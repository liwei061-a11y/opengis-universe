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028700"/>
            <a:ext cx="9144000" cy="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057400"/>
            <a:ext cx="9144000" cy="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086100"/>
            <a:ext cx="9144000" cy="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0" y="457200"/>
            <a:ext cx="4572000" cy="4572000"/>
          </a:xfrm>
          <a:prstGeom prst="ellipse">
            <a:avLst/>
          </a:prstGeom>
          <a:solidFill>
            <a:srgbClr val="9A7DFF">
              <a:alpha val="1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0" y="914400"/>
            <a:ext cx="3657600" cy="3657600"/>
          </a:xfrm>
          <a:prstGeom prst="ellipse">
            <a:avLst/>
          </a:prstGeom>
          <a:solidFill>
            <a:srgbClr val="63F6FF">
              <a:alpha val="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0" y="1828800"/>
            <a:ext cx="1828800" cy="1828800"/>
          </a:xfrm>
          <a:prstGeom prst="ellipse">
            <a:avLst/>
          </a:prstGeom>
          <a:ln w="6350">
            <a:solidFill>
              <a:srgbClr val="63F6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12280" y="1783080"/>
            <a:ext cx="1920240" cy="1920240"/>
          </a:xfrm>
          <a:prstGeom prst="ellipse">
            <a:avLst/>
          </a:prstGeom>
          <a:ln w="6350">
            <a:solidFill>
              <a:srgbClr val="1F25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0" y="1737360"/>
            <a:ext cx="2011680" cy="2011680"/>
          </a:xfrm>
          <a:prstGeom prst="ellipse">
            <a:avLst/>
          </a:prstGeom>
          <a:ln w="6350">
            <a:solidFill>
              <a:srgbClr val="1F25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20840" y="1691640"/>
            <a:ext cx="2103120" cy="2103120"/>
          </a:xfrm>
          <a:prstGeom prst="ellipse">
            <a:avLst/>
          </a:prstGeom>
          <a:ln w="6350">
            <a:solidFill>
              <a:srgbClr val="1F25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0" y="1645920"/>
            <a:ext cx="2194560" cy="2194560"/>
          </a:xfrm>
          <a:prstGeom prst="ellipse">
            <a:avLst/>
          </a:prstGeom>
          <a:ln w="6350">
            <a:solidFill>
              <a:srgbClr val="1F25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66560" y="1737360"/>
            <a:ext cx="2011680" cy="2011680"/>
          </a:xfrm>
          <a:prstGeom prst="ellipse">
            <a:avLst/>
          </a:prstGeom>
          <a:solidFill>
            <a:srgbClr val="0F1224"/>
          </a:solidFill>
          <a:ln w="19050">
            <a:solidFill>
              <a:srgbClr val="63F6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0" y="2103120"/>
            <a:ext cx="54864" cy="54864"/>
          </a:xfrm>
          <a:prstGeom prst="ellipse">
            <a:avLst/>
          </a:prstGeom>
          <a:solidFill>
            <a:srgbClr val="63F6FF"/>
          </a:solidFill>
          <a:ln/>
        </p:spPr>
      </p:sp>
      <p:sp>
        <p:nvSpPr>
          <p:cNvPr id="24" name="Shape 22"/>
          <p:cNvSpPr/>
          <p:nvPr/>
        </p:nvSpPr>
        <p:spPr>
          <a:xfrm>
            <a:off x="7772400" y="2560320"/>
            <a:ext cx="54864" cy="54864"/>
          </a:xfrm>
          <a:prstGeom prst="ellipse">
            <a:avLst/>
          </a:prstGeom>
          <a:solidFill>
            <a:srgbClr val="63F6FF"/>
          </a:solidFill>
          <a:ln/>
        </p:spPr>
      </p:sp>
      <p:sp>
        <p:nvSpPr>
          <p:cNvPr id="25" name="Shape 23"/>
          <p:cNvSpPr/>
          <p:nvPr/>
        </p:nvSpPr>
        <p:spPr>
          <a:xfrm>
            <a:off x="7132320" y="2286000"/>
            <a:ext cx="54864" cy="54864"/>
          </a:xfrm>
          <a:prstGeom prst="ellipse">
            <a:avLst/>
          </a:prstGeom>
          <a:solidFill>
            <a:srgbClr val="63F6FF"/>
          </a:solidFill>
          <a:ln/>
        </p:spPr>
      </p:sp>
      <p:sp>
        <p:nvSpPr>
          <p:cNvPr id="26" name="Shape 24"/>
          <p:cNvSpPr/>
          <p:nvPr/>
        </p:nvSpPr>
        <p:spPr>
          <a:xfrm>
            <a:off x="7406640" y="3017520"/>
            <a:ext cx="54864" cy="54864"/>
          </a:xfrm>
          <a:prstGeom prst="ellipse">
            <a:avLst/>
          </a:prstGeom>
          <a:solidFill>
            <a:srgbClr val="63F6FF"/>
          </a:solidFill>
          <a:ln/>
        </p:spPr>
      </p:sp>
      <p:sp>
        <p:nvSpPr>
          <p:cNvPr id="27" name="Shape 25"/>
          <p:cNvSpPr/>
          <p:nvPr/>
        </p:nvSpPr>
        <p:spPr>
          <a:xfrm>
            <a:off x="6949440" y="2834640"/>
            <a:ext cx="54864" cy="54864"/>
          </a:xfrm>
          <a:prstGeom prst="ellipse">
            <a:avLst/>
          </a:prstGeom>
          <a:solidFill>
            <a:srgbClr val="63F6FF"/>
          </a:solidFill>
          <a:ln/>
        </p:spPr>
      </p:sp>
      <p:sp>
        <p:nvSpPr>
          <p:cNvPr id="28" name="Shape 26"/>
          <p:cNvSpPr/>
          <p:nvPr/>
        </p:nvSpPr>
        <p:spPr>
          <a:xfrm>
            <a:off x="7680960" y="3200400"/>
            <a:ext cx="54864" cy="54864"/>
          </a:xfrm>
          <a:prstGeom prst="ellipse">
            <a:avLst/>
          </a:prstGeom>
          <a:solidFill>
            <a:srgbClr val="63F6FF"/>
          </a:solidFill>
          <a:ln/>
        </p:spPr>
      </p:sp>
      <p:sp>
        <p:nvSpPr>
          <p:cNvPr id="29" name="Shape 27"/>
          <p:cNvSpPr/>
          <p:nvPr/>
        </p:nvSpPr>
        <p:spPr>
          <a:xfrm>
            <a:off x="6858000" y="2377440"/>
            <a:ext cx="54864" cy="54864"/>
          </a:xfrm>
          <a:prstGeom prst="ellipse">
            <a:avLst/>
          </a:prstGeom>
          <a:solidFill>
            <a:srgbClr val="63F6FF"/>
          </a:solidFill>
          <a:ln/>
        </p:spPr>
      </p:sp>
      <p:sp>
        <p:nvSpPr>
          <p:cNvPr id="30" name="Shape 28"/>
          <p:cNvSpPr/>
          <p:nvPr/>
        </p:nvSpPr>
        <p:spPr>
          <a:xfrm>
            <a:off x="7589520" y="1828800"/>
            <a:ext cx="54864" cy="54864"/>
          </a:xfrm>
          <a:prstGeom prst="ellipse">
            <a:avLst/>
          </a:prstGeom>
          <a:solidFill>
            <a:srgbClr val="63F6FF"/>
          </a:solidFill>
          <a:ln/>
        </p:spPr>
      </p:sp>
      <p:sp>
        <p:nvSpPr>
          <p:cNvPr id="31" name="Shape 29"/>
          <p:cNvSpPr/>
          <p:nvPr/>
        </p:nvSpPr>
        <p:spPr>
          <a:xfrm>
            <a:off x="7955280" y="2743200"/>
            <a:ext cx="54864" cy="54864"/>
          </a:xfrm>
          <a:prstGeom prst="ellipse">
            <a:avLst/>
          </a:prstGeom>
          <a:solidFill>
            <a:srgbClr val="63F6FF"/>
          </a:solidFill>
          <a:ln/>
        </p:spPr>
      </p:sp>
      <p:sp>
        <p:nvSpPr>
          <p:cNvPr id="32" name="Shape 30"/>
          <p:cNvSpPr/>
          <p:nvPr/>
        </p:nvSpPr>
        <p:spPr>
          <a:xfrm>
            <a:off x="7498080" y="2103120"/>
            <a:ext cx="274320" cy="457200"/>
          </a:xfrm>
          <a:prstGeom prst="line">
            <a:avLst/>
          </a:prstGeom>
          <a:noFill/>
          <a:ln w="6350">
            <a:solidFill>
              <a:srgbClr val="63F6FF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32320" y="2286000"/>
            <a:ext cx="548640" cy="914400"/>
          </a:xfrm>
          <a:prstGeom prst="line">
            <a:avLst/>
          </a:prstGeom>
          <a:noFill/>
          <a:ln w="6350">
            <a:solidFill>
              <a:srgbClr val="63F6FF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58000" y="2377440"/>
            <a:ext cx="1097280" cy="365760"/>
          </a:xfrm>
          <a:prstGeom prst="line">
            <a:avLst/>
          </a:prstGeom>
          <a:noFill/>
          <a:ln w="6350">
            <a:solidFill>
              <a:srgbClr val="63F6FF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3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v2026  //  CURATED BY COMMUNITY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603504"/>
            <a:ext cx="228600" cy="27432"/>
          </a:xfrm>
          <a:prstGeom prst="rect">
            <a:avLst/>
          </a:prstGeom>
          <a:solidFill>
            <a:srgbClr val="63F6FF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10058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OpenGIS  Universe</a:t>
            </a:r>
            <a:endParaRPr lang="en-US" sz="3200" dirty="0"/>
          </a:p>
        </p:txBody>
      </p:sp>
      <p:sp>
        <p:nvSpPr>
          <p:cNvPr id="38" name="Text 36"/>
          <p:cNvSpPr/>
          <p:nvPr/>
        </p:nvSpPr>
        <p:spPr>
          <a:xfrm>
            <a:off x="457200" y="169164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spc="4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探索开源</a:t>
            </a:r>
            <a:endParaRPr lang="en-US" sz="4400" dirty="0"/>
          </a:p>
        </p:txBody>
      </p:sp>
      <p:sp>
        <p:nvSpPr>
          <p:cNvPr id="39" name="Text 37"/>
          <p:cNvSpPr/>
          <p:nvPr/>
        </p:nvSpPr>
        <p:spPr>
          <a:xfrm>
            <a:off x="457200" y="23317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spc="400" kern="0" dirty="0">
                <a:solidFill>
                  <a:srgbClr val="63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地理信息宇宙</a:t>
            </a:r>
            <a:endParaRPr lang="en-US" sz="4400" dirty="0"/>
          </a:p>
        </p:txBody>
      </p:sp>
      <p:sp>
        <p:nvSpPr>
          <p:cNvPr id="40" name="Shape 38"/>
          <p:cNvSpPr/>
          <p:nvPr/>
        </p:nvSpPr>
        <p:spPr>
          <a:xfrm>
            <a:off x="457200" y="3108960"/>
            <a:ext cx="1371600" cy="0"/>
          </a:xfrm>
          <a:prstGeom prst="line">
            <a:avLst/>
          </a:prstGeom>
          <a:noFill/>
          <a:ln w="19050">
            <a:solidFill>
              <a:srgbClr val="63F6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24612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B92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从桌面端到云端，从二维地图到三维数字孪生。</a:t>
            </a:r>
            <a:endParaRPr lang="en-US" sz="14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B92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50+ 全球最值得关注的开源 GIS 项目，一个站点全面了解。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57200" y="4297680"/>
            <a:ext cx="5943600" cy="0"/>
          </a:xfrm>
          <a:prstGeom prst="line">
            <a:avLst/>
          </a:prstGeom>
          <a:noFill/>
          <a:ln w="9525">
            <a:solidFill>
              <a:srgbClr val="1F254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389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OVERVIEW  //  v2026.08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4663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3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github.com/liwei061-a11y/opengis-universe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589520" y="4297680"/>
            <a:ext cx="1371600" cy="640080"/>
          </a:xfrm>
          <a:prstGeom prst="rect">
            <a:avLst/>
          </a:prstGeom>
          <a:solidFill>
            <a:srgbClr val="0F1224"/>
          </a:solidFill>
          <a:ln w="6350">
            <a:solidFill>
              <a:srgbClr val="63F6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89520" y="4297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7589520" y="4663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028700"/>
            <a:ext cx="9144000" cy="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057400"/>
            <a:ext cx="9144000" cy="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086100"/>
            <a:ext cx="9144000" cy="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8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63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OPENGIS  UNIVERSE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466344"/>
            <a:ext cx="228600" cy="27432"/>
          </a:xfrm>
          <a:prstGeom prst="rect">
            <a:avLst/>
          </a:prstGeom>
          <a:solidFill>
            <a:srgbClr val="63F6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3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AGENDA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6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 录</a:t>
            </a:r>
            <a:endParaRPr lang="en-US" sz="3800" dirty="0"/>
          </a:p>
        </p:txBody>
      </p:sp>
      <p:sp>
        <p:nvSpPr>
          <p:cNvPr id="19" name="Shape 17"/>
          <p:cNvSpPr/>
          <p:nvPr/>
        </p:nvSpPr>
        <p:spPr>
          <a:xfrm>
            <a:off x="548640" y="2103120"/>
            <a:ext cx="3931920" cy="1188720"/>
          </a:xfrm>
          <a:prstGeom prst="rect">
            <a:avLst/>
          </a:prstGeom>
          <a:solidFill>
            <a:srgbClr val="0F1224"/>
          </a:solidFill>
          <a:ln w="6350">
            <a:solidFill>
              <a:srgbClr val="1F25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2103120"/>
            <a:ext cx="91440" cy="1188720"/>
          </a:xfrm>
          <a:prstGeom prst="rect">
            <a:avLst/>
          </a:prstGeom>
          <a:solidFill>
            <a:srgbClr val="63F6FF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21945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63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1920240" y="2240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920240" y="26517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3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VISION &amp; MOTIVATION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92024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2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为什么做这个项目，要解决什么问题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103120"/>
            <a:ext cx="3931920" cy="1188720"/>
          </a:xfrm>
          <a:prstGeom prst="rect">
            <a:avLst/>
          </a:prstGeom>
          <a:solidFill>
            <a:srgbClr val="0F1224"/>
          </a:solidFill>
          <a:ln w="6350">
            <a:solidFill>
              <a:srgbClr val="1F254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2103120"/>
            <a:ext cx="91440" cy="1188720"/>
          </a:xfrm>
          <a:prstGeom prst="rect">
            <a:avLst/>
          </a:prstGeom>
          <a:solidFill>
            <a:srgbClr val="9A7DFF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21945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9A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6126480" y="2240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核心数据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126480" y="26517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A7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METRICS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2648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2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50+ 项目、8 领域、380k+ GitHub Stars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3566160"/>
            <a:ext cx="3931920" cy="1188720"/>
          </a:xfrm>
          <a:prstGeom prst="rect">
            <a:avLst/>
          </a:prstGeom>
          <a:solidFill>
            <a:srgbClr val="0F1224"/>
          </a:solidFill>
          <a:ln w="6350">
            <a:solidFill>
              <a:srgbClr val="1F254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3566160"/>
            <a:ext cx="91440" cy="1188720"/>
          </a:xfrm>
          <a:prstGeom prst="rect">
            <a:avLst/>
          </a:prstGeom>
          <a:solidFill>
            <a:srgbClr val="FF7EB6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36576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7E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1920240" y="3703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技术亮点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920240" y="4114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FF7E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 HIGHLIGHTS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920240" y="4343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2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 地球、实时搜索、发展史时间线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3566160"/>
            <a:ext cx="3931920" cy="1188720"/>
          </a:xfrm>
          <a:prstGeom prst="rect">
            <a:avLst/>
          </a:prstGeom>
          <a:solidFill>
            <a:srgbClr val="0F1224"/>
          </a:solidFill>
          <a:ln w="6350">
            <a:solidFill>
              <a:srgbClr val="1F254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3566160"/>
            <a:ext cx="91440" cy="1188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9" name="Text 37"/>
          <p:cNvSpPr/>
          <p:nvPr/>
        </p:nvSpPr>
        <p:spPr>
          <a:xfrm>
            <a:off x="4983480" y="36576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600" dirty="0"/>
          </a:p>
        </p:txBody>
      </p:sp>
      <p:sp>
        <p:nvSpPr>
          <p:cNvPr id="40" name="Text 38"/>
          <p:cNvSpPr/>
          <p:nvPr/>
        </p:nvSpPr>
        <p:spPr>
          <a:xfrm>
            <a:off x="6126480" y="3703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快速开始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6126480" y="4114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STARTED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126480" y="4343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2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行命令启动，开源协议 MIT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028700"/>
            <a:ext cx="9144000" cy="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057400"/>
            <a:ext cx="9144000" cy="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086100"/>
            <a:ext cx="9144000" cy="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914400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0" b="1" dirty="0">
                <a:solidFill>
                  <a:srgbClr val="63F6FF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0" dirty="0"/>
          </a:p>
        </p:txBody>
      </p:sp>
      <p:sp>
        <p:nvSpPr>
          <p:cNvPr id="16" name="Text 14"/>
          <p:cNvSpPr/>
          <p:nvPr/>
        </p:nvSpPr>
        <p:spPr>
          <a:xfrm>
            <a:off x="411480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3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PART  ONE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0" y="1828800"/>
            <a:ext cx="54864" cy="1371600"/>
          </a:xfrm>
          <a:prstGeom prst="rect">
            <a:avLst/>
          </a:prstGeom>
          <a:solidFill>
            <a:srgbClr val="63F6FF"/>
          </a:solidFill>
          <a:ln/>
        </p:spPr>
      </p:sp>
      <p:sp>
        <p:nvSpPr>
          <p:cNvPr id="18" name="Text 16"/>
          <p:cNvSpPr/>
          <p:nvPr/>
        </p:nvSpPr>
        <p:spPr>
          <a:xfrm>
            <a:off x="4343400" y="1783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4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343400" y="2331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63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VISION  &amp;  MOTIVATION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343400" y="2697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2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为什么做这个，要解决什么问题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43400" y="3383280"/>
            <a:ext cx="1179576" cy="274320"/>
          </a:xfrm>
          <a:prstGeom prst="rect">
            <a:avLst/>
          </a:prstGeom>
          <a:solidFill>
            <a:srgbClr val="0F1224"/>
          </a:solidFill>
          <a:ln w="6350">
            <a:solidFill>
              <a:srgbClr val="63F6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43400" y="338328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#open source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0136" y="3383280"/>
            <a:ext cx="1344168" cy="274320"/>
          </a:xfrm>
          <a:prstGeom prst="rect">
            <a:avLst/>
          </a:prstGeom>
          <a:solidFill>
            <a:srgbClr val="0F1224"/>
          </a:solidFill>
          <a:ln w="6350">
            <a:solidFill>
              <a:srgbClr val="63F6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0136" y="338328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#GIS ecosystem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141464" y="3383280"/>
            <a:ext cx="1673352" cy="274320"/>
          </a:xfrm>
          <a:prstGeom prst="rect">
            <a:avLst/>
          </a:prstGeom>
          <a:solidFill>
            <a:srgbClr val="0F1224"/>
          </a:solidFill>
          <a:ln w="6350">
            <a:solidFill>
              <a:srgbClr val="63F6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41464" y="338328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#developer tooling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028700"/>
            <a:ext cx="9144000" cy="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057400"/>
            <a:ext cx="9144000" cy="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086100"/>
            <a:ext cx="9144000" cy="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8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63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OPENGIS  UNIVERSE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466344"/>
            <a:ext cx="228600" cy="27432"/>
          </a:xfrm>
          <a:prstGeom prst="rect">
            <a:avLst/>
          </a:prstGeom>
          <a:solidFill>
            <a:srgbClr val="63F6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63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THE  PROBLEM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为什么要做这个项目？</a:t>
            </a:r>
            <a:endParaRPr lang="en-US" sz="3200" dirty="0"/>
          </a:p>
        </p:txBody>
      </p:sp>
      <p:sp>
        <p:nvSpPr>
          <p:cNvPr id="19" name="Shape 17"/>
          <p:cNvSpPr/>
          <p:nvPr/>
        </p:nvSpPr>
        <p:spPr>
          <a:xfrm>
            <a:off x="457200" y="1828800"/>
            <a:ext cx="2651760" cy="2377440"/>
          </a:xfrm>
          <a:prstGeom prst="rect">
            <a:avLst/>
          </a:prstGeom>
          <a:solidFill>
            <a:srgbClr val="0F1224"/>
          </a:solidFill>
          <a:ln w="6350">
            <a:solidFill>
              <a:srgbClr val="1F25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1828800"/>
            <a:ext cx="2651760" cy="73152"/>
          </a:xfrm>
          <a:prstGeom prst="rect">
            <a:avLst/>
          </a:prstGeom>
          <a:solidFill>
            <a:srgbClr val="63F6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2194560"/>
            <a:ext cx="640080" cy="640080"/>
          </a:xfrm>
          <a:prstGeom prst="ellipse">
            <a:avLst/>
          </a:prstGeom>
          <a:solidFill>
            <a:srgbClr val="05060F"/>
          </a:solidFill>
          <a:ln w="19050">
            <a:solidFill>
              <a:srgbClr val="63F6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3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31520" y="2971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发现成本高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31520" y="33832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92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 GIS 项目散落在 GitHub、官网、OSGeo 等各处，新人入坑需要反复调研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37560" y="1828800"/>
            <a:ext cx="2651760" cy="2377440"/>
          </a:xfrm>
          <a:prstGeom prst="rect">
            <a:avLst/>
          </a:prstGeom>
          <a:solidFill>
            <a:srgbClr val="0F1224"/>
          </a:solidFill>
          <a:ln w="6350">
            <a:solidFill>
              <a:srgbClr val="1F254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37560" y="1828800"/>
            <a:ext cx="2651760" cy="73152"/>
          </a:xfrm>
          <a:prstGeom prst="rect">
            <a:avLst/>
          </a:prstGeom>
          <a:solidFill>
            <a:srgbClr val="63F6FF"/>
          </a:solidFill>
          <a:ln/>
        </p:spPr>
      </p:sp>
      <p:sp>
        <p:nvSpPr>
          <p:cNvPr id="27" name="Shape 25"/>
          <p:cNvSpPr/>
          <p:nvPr/>
        </p:nvSpPr>
        <p:spPr>
          <a:xfrm>
            <a:off x="3611880" y="2194560"/>
            <a:ext cx="640080" cy="640080"/>
          </a:xfrm>
          <a:prstGeom prst="ellipse">
            <a:avLst/>
          </a:prstGeom>
          <a:solidFill>
            <a:srgbClr val="05060F"/>
          </a:solidFill>
          <a:ln w="19050">
            <a:solidFill>
              <a:srgbClr val="63F6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1188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3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3611880" y="2971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选型困难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611880" y="33832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92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同类工具众多（QGIS vs GRASS、Leaflet vs MapLibre），缺乏一个中立对比的入口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1828800"/>
            <a:ext cx="2651760" cy="2377440"/>
          </a:xfrm>
          <a:prstGeom prst="rect">
            <a:avLst/>
          </a:prstGeom>
          <a:solidFill>
            <a:srgbClr val="0F1224"/>
          </a:solidFill>
          <a:ln w="6350">
            <a:solidFill>
              <a:srgbClr val="1F254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0" y="1828800"/>
            <a:ext cx="2651760" cy="73152"/>
          </a:xfrm>
          <a:prstGeom prst="rect">
            <a:avLst/>
          </a:prstGeom>
          <a:solidFill>
            <a:srgbClr val="63F6FF"/>
          </a:solidFill>
          <a:ln/>
        </p:spPr>
      </p:sp>
      <p:sp>
        <p:nvSpPr>
          <p:cNvPr id="33" name="Shape 31"/>
          <p:cNvSpPr/>
          <p:nvPr/>
        </p:nvSpPr>
        <p:spPr>
          <a:xfrm>
            <a:off x="6492240" y="2194560"/>
            <a:ext cx="640080" cy="640080"/>
          </a:xfrm>
          <a:prstGeom prst="ellipse">
            <a:avLst/>
          </a:prstGeom>
          <a:solidFill>
            <a:srgbClr val="05060F"/>
          </a:solidFill>
          <a:ln w="19050">
            <a:solidFill>
              <a:srgbClr val="63F6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3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6492240" y="2971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信息过载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492240" y="33832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92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WMS / WFS / WMTS / 3D Tiles / COG...标准术语多，没有系统化的科普导航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63F6FF">
              <a:alpha val="12000"/>
            </a:srgbClr>
          </a:solidFill>
          <a:ln w="6350">
            <a:solidFill>
              <a:srgbClr val="63F6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44348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63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  ANSWER  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一个站点，收录 50+ 全球优质开源 GIS 项目，附场景、协议、Stars、活跃度。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028700"/>
            <a:ext cx="9144000" cy="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057400"/>
            <a:ext cx="9144000" cy="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086100"/>
            <a:ext cx="9144000" cy="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8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63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OPENGIS  UNIVERSE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466344"/>
            <a:ext cx="228600" cy="27432"/>
          </a:xfrm>
          <a:prstGeom prst="rect">
            <a:avLst/>
          </a:prstGeom>
          <a:solidFill>
            <a:srgbClr val="63F6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63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KEY  METRICS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用数字看这个项目</a:t>
            </a:r>
            <a:endParaRPr lang="en-US" sz="3200" dirty="0"/>
          </a:p>
        </p:txBody>
      </p:sp>
      <p:sp>
        <p:nvSpPr>
          <p:cNvPr id="19" name="Shape 17"/>
          <p:cNvSpPr/>
          <p:nvPr/>
        </p:nvSpPr>
        <p:spPr>
          <a:xfrm>
            <a:off x="457200" y="1828800"/>
            <a:ext cx="2011680" cy="2286000"/>
          </a:xfrm>
          <a:prstGeom prst="rect">
            <a:avLst/>
          </a:prstGeom>
          <a:solidFill>
            <a:srgbClr val="0F1224"/>
          </a:solidFill>
          <a:ln w="6350">
            <a:solidFill>
              <a:srgbClr val="1F25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1031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63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6000" dirty="0"/>
          </a:p>
        </p:txBody>
      </p:sp>
      <p:sp>
        <p:nvSpPr>
          <p:cNvPr id="21" name="Shape 19"/>
          <p:cNvSpPr/>
          <p:nvPr/>
        </p:nvSpPr>
        <p:spPr>
          <a:xfrm>
            <a:off x="1060704" y="3200400"/>
            <a:ext cx="804672" cy="0"/>
          </a:xfrm>
          <a:prstGeom prst="line">
            <a:avLst/>
          </a:prstGeom>
          <a:noFill/>
          <a:ln w="12700">
            <a:solidFill>
              <a:srgbClr val="63F6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291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收录项目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" y="3611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curated projects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606040" y="1828800"/>
            <a:ext cx="2011680" cy="2286000"/>
          </a:xfrm>
          <a:prstGeom prst="rect">
            <a:avLst/>
          </a:prstGeom>
          <a:solidFill>
            <a:srgbClr val="0F1224"/>
          </a:solidFill>
          <a:ln w="6350">
            <a:solidFill>
              <a:srgbClr val="1F25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06040" y="21031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9A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6000" dirty="0"/>
          </a:p>
        </p:txBody>
      </p:sp>
      <p:sp>
        <p:nvSpPr>
          <p:cNvPr id="26" name="Shape 24"/>
          <p:cNvSpPr/>
          <p:nvPr/>
        </p:nvSpPr>
        <p:spPr>
          <a:xfrm>
            <a:off x="3209544" y="3200400"/>
            <a:ext cx="804672" cy="0"/>
          </a:xfrm>
          <a:prstGeom prst="line">
            <a:avLst/>
          </a:prstGeom>
          <a:noFill/>
          <a:ln w="12700">
            <a:solidFill>
              <a:srgbClr val="9A7D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06040" y="3291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核心领域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606040" y="3611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domains covered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1828800"/>
            <a:ext cx="2011680" cy="2286000"/>
          </a:xfrm>
          <a:prstGeom prst="rect">
            <a:avLst/>
          </a:prstGeom>
          <a:solidFill>
            <a:srgbClr val="0F1224"/>
          </a:solidFill>
          <a:ln w="6350">
            <a:solidFill>
              <a:srgbClr val="1F25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21031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7E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380k+</a:t>
            </a:r>
            <a:endParaRPr lang="en-US" sz="6000" dirty="0"/>
          </a:p>
        </p:txBody>
      </p:sp>
      <p:sp>
        <p:nvSpPr>
          <p:cNvPr id="31" name="Shape 29"/>
          <p:cNvSpPr/>
          <p:nvPr/>
        </p:nvSpPr>
        <p:spPr>
          <a:xfrm>
            <a:off x="5358384" y="3200400"/>
            <a:ext cx="804672" cy="0"/>
          </a:xfrm>
          <a:prstGeom prst="line">
            <a:avLst/>
          </a:prstGeom>
          <a:noFill/>
          <a:ln w="12700">
            <a:solidFill>
              <a:srgbClr val="FF7E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291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Stars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754880" y="3611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across all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903720" y="1828800"/>
            <a:ext cx="2011680" cy="2286000"/>
          </a:xfrm>
          <a:prstGeom prst="rect">
            <a:avLst/>
          </a:prstGeom>
          <a:solidFill>
            <a:srgbClr val="0F1224"/>
          </a:solidFill>
          <a:ln w="6350">
            <a:solidFill>
              <a:srgbClr val="1F25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03720" y="21031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6000" dirty="0"/>
          </a:p>
        </p:txBody>
      </p:sp>
      <p:sp>
        <p:nvSpPr>
          <p:cNvPr id="36" name="Shape 34"/>
          <p:cNvSpPr/>
          <p:nvPr/>
        </p:nvSpPr>
        <p:spPr>
          <a:xfrm>
            <a:off x="7507224" y="3200400"/>
            <a:ext cx="804672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03720" y="3291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年开源历史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903720" y="3611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years of legacy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数据截至 2026.08  //  来源：公开资料（OSGeo · OpenStreetMap · GitHub）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028700"/>
            <a:ext cx="9144000" cy="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057400"/>
            <a:ext cx="9144000" cy="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086100"/>
            <a:ext cx="9144000" cy="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8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63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OPENGIS  UNIVERSE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466344"/>
            <a:ext cx="228600" cy="27432"/>
          </a:xfrm>
          <a:prstGeom prst="rect">
            <a:avLst/>
          </a:prstGeom>
          <a:solidFill>
            <a:srgbClr val="63F6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63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8  DOMAINS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 8 大领域</a:t>
            </a:r>
            <a:endParaRPr lang="en-US" sz="3200" dirty="0"/>
          </a:p>
        </p:txBody>
      </p:sp>
      <p:sp>
        <p:nvSpPr>
          <p:cNvPr id="19" name="Shape 17"/>
          <p:cNvSpPr/>
          <p:nvPr/>
        </p:nvSpPr>
        <p:spPr>
          <a:xfrm>
            <a:off x="457200" y="1691640"/>
            <a:ext cx="2011680" cy="1280160"/>
          </a:xfrm>
          <a:prstGeom prst="rect">
            <a:avLst/>
          </a:prstGeom>
          <a:solidFill>
            <a:srgbClr val="0F1224"/>
          </a:solidFill>
          <a:ln w="6350">
            <a:solidFill>
              <a:srgbClr val="1F25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1691640"/>
            <a:ext cx="2011680" cy="45720"/>
          </a:xfrm>
          <a:prstGeom prst="rect">
            <a:avLst/>
          </a:prstGeom>
          <a:solidFill>
            <a:srgbClr val="63F6F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1874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3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011680" y="1828800"/>
            <a:ext cx="320040" cy="274320"/>
          </a:xfrm>
          <a:prstGeom prst="rect">
            <a:avLst/>
          </a:prstGeom>
          <a:solidFill>
            <a:srgbClr val="05060F"/>
          </a:solidFill>
          <a:ln w="6350">
            <a:solidFill>
              <a:srgbClr val="63F6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11680" y="18288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2194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 GIS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2560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QGIS / GRASS / SAGA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606040" y="1691640"/>
            <a:ext cx="2011680" cy="1280160"/>
          </a:xfrm>
          <a:prstGeom prst="rect">
            <a:avLst/>
          </a:prstGeom>
          <a:solidFill>
            <a:srgbClr val="0F1224"/>
          </a:solidFill>
          <a:ln w="6350">
            <a:solidFill>
              <a:srgbClr val="1F25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06040" y="1691640"/>
            <a:ext cx="2011680" cy="45720"/>
          </a:xfrm>
          <a:prstGeom prst="rect">
            <a:avLst/>
          </a:prstGeom>
          <a:solidFill>
            <a:srgbClr val="9A7DFF"/>
          </a:solidFill>
          <a:ln/>
        </p:spPr>
      </p:sp>
      <p:sp>
        <p:nvSpPr>
          <p:cNvPr id="28" name="Text 26"/>
          <p:cNvSpPr/>
          <p:nvPr/>
        </p:nvSpPr>
        <p:spPr>
          <a:xfrm>
            <a:off x="2788920" y="1874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7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60520" y="1828800"/>
            <a:ext cx="320040" cy="274320"/>
          </a:xfrm>
          <a:prstGeom prst="rect">
            <a:avLst/>
          </a:prstGeom>
          <a:solidFill>
            <a:srgbClr val="05060F"/>
          </a:solidFill>
          <a:ln w="6350">
            <a:solidFill>
              <a:srgbClr val="9A7D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60520" y="18288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788920" y="2194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地图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788920" y="2560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Leaflet / MapLibre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1691640"/>
            <a:ext cx="2011680" cy="1280160"/>
          </a:xfrm>
          <a:prstGeom prst="rect">
            <a:avLst/>
          </a:prstGeom>
          <a:solidFill>
            <a:srgbClr val="0F1224"/>
          </a:solidFill>
          <a:ln w="6350">
            <a:solidFill>
              <a:srgbClr val="1F254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1691640"/>
            <a:ext cx="201168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4937760" y="1874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SRV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09360" y="1828800"/>
            <a:ext cx="320040" cy="274320"/>
          </a:xfrm>
          <a:prstGeom prst="rect">
            <a:avLst/>
          </a:prstGeom>
          <a:solidFill>
            <a:srgbClr val="05060F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0" y="18288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937760" y="2194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地图服务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937760" y="2560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GeoServer / MapServer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903720" y="1691640"/>
            <a:ext cx="2011680" cy="1280160"/>
          </a:xfrm>
          <a:prstGeom prst="rect">
            <a:avLst/>
          </a:prstGeom>
          <a:solidFill>
            <a:srgbClr val="0F1224"/>
          </a:solidFill>
          <a:ln w="6350">
            <a:solidFill>
              <a:srgbClr val="1F254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03720" y="1691640"/>
            <a:ext cx="20116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7086600" y="1874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458200" y="1828800"/>
            <a:ext cx="320040" cy="274320"/>
          </a:xfrm>
          <a:prstGeom prst="rect">
            <a:avLst/>
          </a:prstGeom>
          <a:solidFill>
            <a:srgbClr val="05060F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58200" y="18288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086600" y="2194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空间数据库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086600" y="2560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PostGIS / SpatiaLite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" y="3108960"/>
            <a:ext cx="2011680" cy="1280160"/>
          </a:xfrm>
          <a:prstGeom prst="rect">
            <a:avLst/>
          </a:prstGeom>
          <a:solidFill>
            <a:srgbClr val="0F1224"/>
          </a:solidFill>
          <a:ln w="6350">
            <a:solidFill>
              <a:srgbClr val="1F254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3108960"/>
            <a:ext cx="201168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9" name="Text 47"/>
          <p:cNvSpPr/>
          <p:nvPr/>
        </p:nvSpPr>
        <p:spPr>
          <a:xfrm>
            <a:off x="640080" y="3291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ANL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011680" y="3246120"/>
            <a:ext cx="320040" cy="274320"/>
          </a:xfrm>
          <a:prstGeom prst="rect">
            <a:avLst/>
          </a:prstGeom>
          <a:solidFill>
            <a:srgbClr val="05060F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011680" y="32461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40080" y="3611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空间分析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640080" y="3977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GDAL / GeoPandas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606040" y="3108960"/>
            <a:ext cx="2011680" cy="1280160"/>
          </a:xfrm>
          <a:prstGeom prst="rect">
            <a:avLst/>
          </a:prstGeom>
          <a:solidFill>
            <a:srgbClr val="0F1224"/>
          </a:solidFill>
          <a:ln w="6350">
            <a:solidFill>
              <a:srgbClr val="1F254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606040" y="3108960"/>
            <a:ext cx="2011680" cy="45720"/>
          </a:xfrm>
          <a:prstGeom prst="rect">
            <a:avLst/>
          </a:prstGeom>
          <a:solidFill>
            <a:srgbClr val="FF7EB6"/>
          </a:solidFill>
          <a:ln/>
        </p:spPr>
      </p:sp>
      <p:sp>
        <p:nvSpPr>
          <p:cNvPr id="56" name="Text 54"/>
          <p:cNvSpPr/>
          <p:nvPr/>
        </p:nvSpPr>
        <p:spPr>
          <a:xfrm>
            <a:off x="2788920" y="3291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E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VIZ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160520" y="3246120"/>
            <a:ext cx="320040" cy="274320"/>
          </a:xfrm>
          <a:prstGeom prst="rect">
            <a:avLst/>
          </a:prstGeom>
          <a:solidFill>
            <a:srgbClr val="05060F"/>
          </a:solidFill>
          <a:ln w="6350">
            <a:solidFill>
              <a:srgbClr val="FF7EB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160520" y="32461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7E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2788920" y="3611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2788920" y="3977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D3 / ECharts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754880" y="3108960"/>
            <a:ext cx="2011680" cy="1280160"/>
          </a:xfrm>
          <a:prstGeom prst="rect">
            <a:avLst/>
          </a:prstGeom>
          <a:solidFill>
            <a:srgbClr val="0F1224"/>
          </a:solidFill>
          <a:ln w="6350">
            <a:solidFill>
              <a:srgbClr val="1F254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754880" y="3108960"/>
            <a:ext cx="2011680" cy="45720"/>
          </a:xfrm>
          <a:prstGeom prst="rect">
            <a:avLst/>
          </a:prstGeom>
          <a:solidFill>
            <a:srgbClr val="63F6FF"/>
          </a:solidFill>
          <a:ln/>
        </p:spPr>
      </p:sp>
      <p:sp>
        <p:nvSpPr>
          <p:cNvPr id="63" name="Text 61"/>
          <p:cNvSpPr/>
          <p:nvPr/>
        </p:nvSpPr>
        <p:spPr>
          <a:xfrm>
            <a:off x="4937760" y="3291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3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3D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309360" y="3246120"/>
            <a:ext cx="320040" cy="274320"/>
          </a:xfrm>
          <a:prstGeom prst="rect">
            <a:avLst/>
          </a:prstGeom>
          <a:solidFill>
            <a:srgbClr val="05060F"/>
          </a:solidFill>
          <a:ln w="6350">
            <a:solidFill>
              <a:srgbClr val="63F6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09360" y="32461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4937760" y="3611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 / 地球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4937760" y="3977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Cesium / Three.js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903720" y="3108960"/>
            <a:ext cx="2011680" cy="1280160"/>
          </a:xfrm>
          <a:prstGeom prst="rect">
            <a:avLst/>
          </a:prstGeom>
          <a:solidFill>
            <a:srgbClr val="0F1224"/>
          </a:solidFill>
          <a:ln w="6350">
            <a:solidFill>
              <a:srgbClr val="1F254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903720" y="3108960"/>
            <a:ext cx="2011680" cy="45720"/>
          </a:xfrm>
          <a:prstGeom prst="rect">
            <a:avLst/>
          </a:prstGeom>
          <a:solidFill>
            <a:srgbClr val="9A7DFF"/>
          </a:solidFill>
          <a:ln/>
        </p:spPr>
      </p:sp>
      <p:sp>
        <p:nvSpPr>
          <p:cNvPr id="70" name="Text 68"/>
          <p:cNvSpPr/>
          <p:nvPr/>
        </p:nvSpPr>
        <p:spPr>
          <a:xfrm>
            <a:off x="7086600" y="3291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7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8458200" y="3246120"/>
            <a:ext cx="320040" cy="274320"/>
          </a:xfrm>
          <a:prstGeom prst="rect">
            <a:avLst/>
          </a:prstGeom>
          <a:solidFill>
            <a:srgbClr val="05060F"/>
          </a:solidFill>
          <a:ln w="6350">
            <a:solidFill>
              <a:srgbClr val="9A7D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458200" y="32461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7086600" y="3611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数据/工具</a:t>
            </a:r>
            <a:endParaRPr lang="en-US" sz="1400" dirty="0"/>
          </a:p>
        </p:txBody>
      </p:sp>
      <p:sp>
        <p:nvSpPr>
          <p:cNvPr id="74" name="Text 72"/>
          <p:cNvSpPr/>
          <p:nvPr/>
        </p:nvSpPr>
        <p:spPr>
          <a:xfrm>
            <a:off x="7086600" y="3977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OSMnx / Nominatim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3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社区维护项目持续增加，欢迎 PR 补充遗漏的优秀项目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028700"/>
            <a:ext cx="9144000" cy="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057400"/>
            <a:ext cx="9144000" cy="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086100"/>
            <a:ext cx="9144000" cy="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8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63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OPENGIS  UNIVERSE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466344"/>
            <a:ext cx="228600" cy="27432"/>
          </a:xfrm>
          <a:prstGeom prst="rect">
            <a:avLst/>
          </a:prstGeom>
          <a:solidFill>
            <a:srgbClr val="63F6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63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FEATURED  PROJECTS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精选 6 个不可错过的项目</a:t>
            </a:r>
            <a:endParaRPr lang="en-US" sz="3200" dirty="0"/>
          </a:p>
        </p:txBody>
      </p:sp>
      <p:sp>
        <p:nvSpPr>
          <p:cNvPr id="19" name="Shape 17"/>
          <p:cNvSpPr/>
          <p:nvPr/>
        </p:nvSpPr>
        <p:spPr>
          <a:xfrm>
            <a:off x="457200" y="1691640"/>
            <a:ext cx="2743200" cy="1325880"/>
          </a:xfrm>
          <a:prstGeom prst="rect">
            <a:avLst/>
          </a:prstGeom>
          <a:solidFill>
            <a:srgbClr val="0F1224"/>
          </a:solidFill>
          <a:ln w="6350">
            <a:solidFill>
              <a:srgbClr val="1F25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1691640"/>
            <a:ext cx="73152" cy="1325880"/>
          </a:xfrm>
          <a:prstGeom prst="rect">
            <a:avLst/>
          </a:prstGeom>
          <a:solidFill>
            <a:srgbClr val="63F6FF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QGIS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85800" y="21945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3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#Desktop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5800" y="2423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全球最受欢迎的开源桌面 GIS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5800" y="2743200"/>
            <a:ext cx="2286000" cy="0"/>
          </a:xfrm>
          <a:prstGeom prst="line">
            <a:avLst/>
          </a:prstGeom>
          <a:noFill/>
          <a:ln w="6350">
            <a:solidFill>
              <a:srgbClr val="1F25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2743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11.5k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463040" y="2743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C++/Python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37560" y="1691640"/>
            <a:ext cx="2743200" cy="1325880"/>
          </a:xfrm>
          <a:prstGeom prst="rect">
            <a:avLst/>
          </a:prstGeom>
          <a:solidFill>
            <a:srgbClr val="0F1224"/>
          </a:solidFill>
          <a:ln w="6350">
            <a:solidFill>
              <a:srgbClr val="1F254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37560" y="1691640"/>
            <a:ext cx="73152" cy="1325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356616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PostGIS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3566160" y="21945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#Database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566160" y="2423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PostgreSQL 空间扩展，OGC 兼容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566160" y="2743200"/>
            <a:ext cx="2286000" cy="0"/>
          </a:xfrm>
          <a:prstGeom prst="line">
            <a:avLst/>
          </a:prstGeom>
          <a:noFill/>
          <a:ln w="6350">
            <a:solidFill>
              <a:srgbClr val="1F25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66160" y="2743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1.7k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343400" y="2743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C/SQL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17920" y="1691640"/>
            <a:ext cx="2743200" cy="1325880"/>
          </a:xfrm>
          <a:prstGeom prst="rect">
            <a:avLst/>
          </a:prstGeom>
          <a:solidFill>
            <a:srgbClr val="0F1224"/>
          </a:solidFill>
          <a:ln w="6350">
            <a:solidFill>
              <a:srgbClr val="1F254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7920" y="1691640"/>
            <a:ext cx="73152" cy="1325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644652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GeoServer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446520" y="21945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#Map Server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46520" y="2423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OGC 标准地图服务器之王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46520" y="2743200"/>
            <a:ext cx="2286000" cy="0"/>
          </a:xfrm>
          <a:prstGeom prst="line">
            <a:avLst/>
          </a:prstGeom>
          <a:noFill/>
          <a:ln w="6350">
            <a:solidFill>
              <a:srgbClr val="1F254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46520" y="2743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3.3k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223760" y="2743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" y="3154680"/>
            <a:ext cx="2743200" cy="1325880"/>
          </a:xfrm>
          <a:prstGeom prst="rect">
            <a:avLst/>
          </a:prstGeom>
          <a:solidFill>
            <a:srgbClr val="0F1224"/>
          </a:solidFill>
          <a:ln w="6350">
            <a:solidFill>
              <a:srgbClr val="1F254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7200" y="3154680"/>
            <a:ext cx="73152" cy="1325880"/>
          </a:xfrm>
          <a:prstGeom prst="rect">
            <a:avLst/>
          </a:prstGeom>
          <a:solidFill>
            <a:srgbClr val="9A7DFF"/>
          </a:solidFill>
          <a:ln/>
        </p:spPr>
      </p:sp>
      <p:sp>
        <p:nvSpPr>
          <p:cNvPr id="45" name="Text 43"/>
          <p:cNvSpPr/>
          <p:nvPr/>
        </p:nvSpPr>
        <p:spPr>
          <a:xfrm>
            <a:off x="685800" y="3291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Leaflet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685800" y="3657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7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#Web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85800" y="3886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轻量级 Web 地图事实标准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5800" y="4206240"/>
            <a:ext cx="2286000" cy="0"/>
          </a:xfrm>
          <a:prstGeom prst="line">
            <a:avLst/>
          </a:prstGeom>
          <a:noFill/>
          <a:ln w="6350">
            <a:solidFill>
              <a:srgbClr val="1F254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5800" y="4206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41k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463040" y="4206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337560" y="3154680"/>
            <a:ext cx="2743200" cy="1325880"/>
          </a:xfrm>
          <a:prstGeom prst="rect">
            <a:avLst/>
          </a:prstGeom>
          <a:solidFill>
            <a:srgbClr val="0F1224"/>
          </a:solidFill>
          <a:ln w="6350">
            <a:solidFill>
              <a:srgbClr val="1F254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337560" y="3154680"/>
            <a:ext cx="73152" cy="1325880"/>
          </a:xfrm>
          <a:prstGeom prst="rect">
            <a:avLst/>
          </a:prstGeom>
          <a:solidFill>
            <a:srgbClr val="FF7EB6"/>
          </a:solidFill>
          <a:ln/>
        </p:spPr>
      </p:sp>
      <p:sp>
        <p:nvSpPr>
          <p:cNvPr id="53" name="Text 51"/>
          <p:cNvSpPr/>
          <p:nvPr/>
        </p:nvSpPr>
        <p:spPr>
          <a:xfrm>
            <a:off x="3566160" y="3291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MapLibre GL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3566160" y="3657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F7E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#Web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566160" y="3886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矢量瓦片渲染开源分叉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566160" y="4206240"/>
            <a:ext cx="2286000" cy="0"/>
          </a:xfrm>
          <a:prstGeom prst="line">
            <a:avLst/>
          </a:prstGeom>
          <a:noFill/>
          <a:ln w="6350">
            <a:solidFill>
              <a:srgbClr val="1F254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566160" y="4206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5.6k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343400" y="4206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217920" y="3154680"/>
            <a:ext cx="2743200" cy="1325880"/>
          </a:xfrm>
          <a:prstGeom prst="rect">
            <a:avLst/>
          </a:prstGeom>
          <a:solidFill>
            <a:srgbClr val="0F1224"/>
          </a:solidFill>
          <a:ln w="6350">
            <a:solidFill>
              <a:srgbClr val="1F254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217920" y="3154680"/>
            <a:ext cx="73152" cy="13258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1" name="Text 59"/>
          <p:cNvSpPr/>
          <p:nvPr/>
        </p:nvSpPr>
        <p:spPr>
          <a:xfrm>
            <a:off x="6446520" y="3291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Cesium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6446520" y="3657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#3D Earth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446520" y="3886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WebGL 三维地球引擎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446520" y="4206240"/>
            <a:ext cx="2286000" cy="0"/>
          </a:xfrm>
          <a:prstGeom prst="line">
            <a:avLst/>
          </a:prstGeom>
          <a:noFill/>
          <a:ln w="6350">
            <a:solidFill>
              <a:srgbClr val="1F254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46520" y="4206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13.4k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7223760" y="4206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还有 44+ 项目，等你去探索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028700"/>
            <a:ext cx="9144000" cy="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057400"/>
            <a:ext cx="9144000" cy="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086100"/>
            <a:ext cx="9144000" cy="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914400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0" b="1" dirty="0">
                <a:solidFill>
                  <a:srgbClr val="9A7DFF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0" dirty="0"/>
          </a:p>
        </p:txBody>
      </p:sp>
      <p:sp>
        <p:nvSpPr>
          <p:cNvPr id="16" name="Text 14"/>
          <p:cNvSpPr/>
          <p:nvPr/>
        </p:nvSpPr>
        <p:spPr>
          <a:xfrm>
            <a:off x="411480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9A7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PART  TWO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0" y="1828800"/>
            <a:ext cx="54864" cy="1371600"/>
          </a:xfrm>
          <a:prstGeom prst="rect">
            <a:avLst/>
          </a:prstGeom>
          <a:solidFill>
            <a:srgbClr val="9A7DFF"/>
          </a:solidFill>
          <a:ln/>
        </p:spPr>
      </p:sp>
      <p:sp>
        <p:nvSpPr>
          <p:cNvPr id="18" name="Text 16"/>
          <p:cNvSpPr/>
          <p:nvPr/>
        </p:nvSpPr>
        <p:spPr>
          <a:xfrm>
            <a:off x="4343400" y="1783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4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技术亮点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343400" y="2331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9A7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  HIGHLIGHTS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343400" y="2697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2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用前沿 Web 技术打造的科技感体验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43400" y="3383280"/>
            <a:ext cx="932688" cy="274320"/>
          </a:xfrm>
          <a:prstGeom prst="rect">
            <a:avLst/>
          </a:prstGeom>
          <a:solidFill>
            <a:srgbClr val="0F1224"/>
          </a:solidFill>
          <a:ln w="6350">
            <a:solidFill>
              <a:srgbClr val="9A7D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43400" y="3383280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7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#3D WebGL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13248" y="3383280"/>
            <a:ext cx="1097280" cy="274320"/>
          </a:xfrm>
          <a:prstGeom prst="rect">
            <a:avLst/>
          </a:prstGeom>
          <a:solidFill>
            <a:srgbClr val="0F1224"/>
          </a:solidFill>
          <a:ln w="6350">
            <a:solidFill>
              <a:srgbClr val="9A7D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13248" y="3383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7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#responsive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647688" y="3383280"/>
            <a:ext cx="1344168" cy="274320"/>
          </a:xfrm>
          <a:prstGeom prst="rect">
            <a:avLst/>
          </a:prstGeom>
          <a:solidFill>
            <a:srgbClr val="0F1224"/>
          </a:solidFill>
          <a:ln w="6350">
            <a:solidFill>
              <a:srgbClr val="9A7D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47688" y="338328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7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#no build step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028700"/>
            <a:ext cx="9144000" cy="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057400"/>
            <a:ext cx="9144000" cy="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086100"/>
            <a:ext cx="9144000" cy="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8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63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OPENGIS  UNIVERSE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466344"/>
            <a:ext cx="228600" cy="27432"/>
          </a:xfrm>
          <a:prstGeom prst="rect">
            <a:avLst/>
          </a:prstGeom>
          <a:solidFill>
            <a:srgbClr val="63F6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63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EVOLUTION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 GIS 发展史 · 1982 - 2024</a:t>
            </a:r>
            <a:endParaRPr lang="en-US" sz="3200" dirty="0"/>
          </a:p>
        </p:txBody>
      </p:sp>
      <p:sp>
        <p:nvSpPr>
          <p:cNvPr id="19" name="Shape 17"/>
          <p:cNvSpPr/>
          <p:nvPr/>
        </p:nvSpPr>
        <p:spPr>
          <a:xfrm>
            <a:off x="548640" y="2651760"/>
            <a:ext cx="8046720" cy="0"/>
          </a:xfrm>
          <a:prstGeom prst="line">
            <a:avLst/>
          </a:prstGeom>
          <a:noFill/>
          <a:ln w="19050">
            <a:solidFill>
              <a:srgbClr val="63F6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1832" y="2542032"/>
            <a:ext cx="219456" cy="219456"/>
          </a:xfrm>
          <a:prstGeom prst="ellipse">
            <a:avLst/>
          </a:prstGeom>
          <a:solidFill>
            <a:srgbClr val="05060F"/>
          </a:solidFill>
          <a:ln w="25400">
            <a:solidFill>
              <a:srgbClr val="63F6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2606040"/>
            <a:ext cx="91440" cy="91440"/>
          </a:xfrm>
          <a:prstGeom prst="ellipse">
            <a:avLst/>
          </a:prstGeom>
          <a:solidFill>
            <a:srgbClr val="63F6FF"/>
          </a:solidFill>
          <a:ln/>
        </p:spPr>
      </p:sp>
      <p:sp>
        <p:nvSpPr>
          <p:cNvPr id="22" name="Shape 20"/>
          <p:cNvSpPr/>
          <p:nvPr/>
        </p:nvSpPr>
        <p:spPr>
          <a:xfrm>
            <a:off x="1051560" y="2542032"/>
            <a:ext cx="0" cy="137160"/>
          </a:xfrm>
          <a:prstGeom prst="line">
            <a:avLst/>
          </a:prstGeom>
          <a:noFill/>
          <a:ln w="6350">
            <a:solidFill>
              <a:srgbClr val="1F25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1645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1986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02920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GRASS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2286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2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陆军工程兵团开源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947672" y="2542032"/>
            <a:ext cx="219456" cy="219456"/>
          </a:xfrm>
          <a:prstGeom prst="ellipse">
            <a:avLst/>
          </a:prstGeom>
          <a:solidFill>
            <a:srgbClr val="05060F"/>
          </a:solidFill>
          <a:ln w="25400">
            <a:solidFill>
              <a:srgbClr val="63F6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11680" y="2606040"/>
            <a:ext cx="91440" cy="91440"/>
          </a:xfrm>
          <a:prstGeom prst="ellipse">
            <a:avLst/>
          </a:prstGeom>
          <a:solidFill>
            <a:srgbClr val="63F6FF"/>
          </a:solidFill>
          <a:ln/>
        </p:spPr>
      </p:sp>
      <p:sp>
        <p:nvSpPr>
          <p:cNvPr id="28" name="Shape 26"/>
          <p:cNvSpPr/>
          <p:nvPr/>
        </p:nvSpPr>
        <p:spPr>
          <a:xfrm>
            <a:off x="2057400" y="2761488"/>
            <a:ext cx="0" cy="137160"/>
          </a:xfrm>
          <a:prstGeom prst="line">
            <a:avLst/>
          </a:prstGeom>
          <a:noFill/>
          <a:ln w="6350">
            <a:solidFill>
              <a:srgbClr val="1F25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08760" y="3383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508760" y="2926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OSM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508760" y="3200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2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OpenStreetMap 立项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953512" y="2542032"/>
            <a:ext cx="219456" cy="219456"/>
          </a:xfrm>
          <a:prstGeom prst="ellipse">
            <a:avLst/>
          </a:prstGeom>
          <a:solidFill>
            <a:srgbClr val="05060F"/>
          </a:solidFill>
          <a:ln w="25400">
            <a:solidFill>
              <a:srgbClr val="63F6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17520" y="2606040"/>
            <a:ext cx="91440" cy="91440"/>
          </a:xfrm>
          <a:prstGeom prst="ellipse">
            <a:avLst/>
          </a:prstGeom>
          <a:solidFill>
            <a:srgbClr val="63F6FF"/>
          </a:solidFill>
          <a:ln/>
        </p:spPr>
      </p:sp>
      <p:sp>
        <p:nvSpPr>
          <p:cNvPr id="34" name="Shape 32"/>
          <p:cNvSpPr/>
          <p:nvPr/>
        </p:nvSpPr>
        <p:spPr>
          <a:xfrm>
            <a:off x="3063240" y="2542032"/>
            <a:ext cx="0" cy="137160"/>
          </a:xfrm>
          <a:prstGeom prst="line">
            <a:avLst/>
          </a:prstGeom>
          <a:noFill/>
          <a:ln w="6350">
            <a:solidFill>
              <a:srgbClr val="1F25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14600" y="1645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2004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2514600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PostGIS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514600" y="2286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2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PG 空间扩展 1.0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959352" y="2542032"/>
            <a:ext cx="219456" cy="219456"/>
          </a:xfrm>
          <a:prstGeom prst="ellipse">
            <a:avLst/>
          </a:prstGeom>
          <a:solidFill>
            <a:srgbClr val="05060F"/>
          </a:solidFill>
          <a:ln w="25400">
            <a:solidFill>
              <a:srgbClr val="63F6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023360" y="2606040"/>
            <a:ext cx="91440" cy="91440"/>
          </a:xfrm>
          <a:prstGeom prst="ellipse">
            <a:avLst/>
          </a:prstGeom>
          <a:solidFill>
            <a:srgbClr val="63F6FF"/>
          </a:solidFill>
          <a:ln/>
        </p:spPr>
      </p:sp>
      <p:sp>
        <p:nvSpPr>
          <p:cNvPr id="40" name="Shape 38"/>
          <p:cNvSpPr/>
          <p:nvPr/>
        </p:nvSpPr>
        <p:spPr>
          <a:xfrm>
            <a:off x="4069080" y="2761488"/>
            <a:ext cx="0" cy="137160"/>
          </a:xfrm>
          <a:prstGeom prst="line">
            <a:avLst/>
          </a:prstGeom>
          <a:noFill/>
          <a:ln w="6350">
            <a:solidFill>
              <a:srgbClr val="1F254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20440" y="3383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2007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3520440" y="2926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QGIS 1.0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520440" y="3200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2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 GIS 跨平台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965192" y="2542032"/>
            <a:ext cx="219456" cy="219456"/>
          </a:xfrm>
          <a:prstGeom prst="ellipse">
            <a:avLst/>
          </a:prstGeom>
          <a:solidFill>
            <a:srgbClr val="05060F"/>
          </a:solidFill>
          <a:ln w="25400">
            <a:solidFill>
              <a:srgbClr val="63F6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029200" y="2606040"/>
            <a:ext cx="91440" cy="91440"/>
          </a:xfrm>
          <a:prstGeom prst="ellipse">
            <a:avLst/>
          </a:prstGeom>
          <a:solidFill>
            <a:srgbClr val="63F6FF"/>
          </a:solidFill>
          <a:ln/>
        </p:spPr>
      </p:sp>
      <p:sp>
        <p:nvSpPr>
          <p:cNvPr id="46" name="Shape 44"/>
          <p:cNvSpPr/>
          <p:nvPr/>
        </p:nvSpPr>
        <p:spPr>
          <a:xfrm>
            <a:off x="5074920" y="2542032"/>
            <a:ext cx="0" cy="137160"/>
          </a:xfrm>
          <a:prstGeom prst="line">
            <a:avLst/>
          </a:prstGeom>
          <a:noFill/>
          <a:ln w="6350">
            <a:solidFill>
              <a:srgbClr val="1F254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26280" y="1645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2010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4526280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Leaflet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526280" y="2286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2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地图时代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971032" y="2542032"/>
            <a:ext cx="219456" cy="219456"/>
          </a:xfrm>
          <a:prstGeom prst="ellipse">
            <a:avLst/>
          </a:prstGeom>
          <a:solidFill>
            <a:srgbClr val="05060F"/>
          </a:solidFill>
          <a:ln w="25400">
            <a:solidFill>
              <a:srgbClr val="63F6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035040" y="2606040"/>
            <a:ext cx="91440" cy="91440"/>
          </a:xfrm>
          <a:prstGeom prst="ellipse">
            <a:avLst/>
          </a:prstGeom>
          <a:solidFill>
            <a:srgbClr val="63F6FF"/>
          </a:solidFill>
          <a:ln/>
        </p:spPr>
      </p:sp>
      <p:sp>
        <p:nvSpPr>
          <p:cNvPr id="52" name="Shape 50"/>
          <p:cNvSpPr/>
          <p:nvPr/>
        </p:nvSpPr>
        <p:spPr>
          <a:xfrm>
            <a:off x="6080760" y="2761488"/>
            <a:ext cx="0" cy="137160"/>
          </a:xfrm>
          <a:prstGeom prst="line">
            <a:avLst/>
          </a:prstGeom>
          <a:noFill/>
          <a:ln w="6350">
            <a:solidFill>
              <a:srgbClr val="1F254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32120" y="3383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2014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5532120" y="2926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Cesium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532120" y="3200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2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3D 地球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976872" y="2542032"/>
            <a:ext cx="219456" cy="219456"/>
          </a:xfrm>
          <a:prstGeom prst="ellipse">
            <a:avLst/>
          </a:prstGeom>
          <a:solidFill>
            <a:srgbClr val="05060F"/>
          </a:solidFill>
          <a:ln w="25400">
            <a:solidFill>
              <a:srgbClr val="63F6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040880" y="2606040"/>
            <a:ext cx="91440" cy="91440"/>
          </a:xfrm>
          <a:prstGeom prst="ellipse">
            <a:avLst/>
          </a:prstGeom>
          <a:solidFill>
            <a:srgbClr val="63F6FF"/>
          </a:solidFill>
          <a:ln/>
        </p:spPr>
      </p:sp>
      <p:sp>
        <p:nvSpPr>
          <p:cNvPr id="58" name="Shape 56"/>
          <p:cNvSpPr/>
          <p:nvPr/>
        </p:nvSpPr>
        <p:spPr>
          <a:xfrm>
            <a:off x="7086600" y="2542032"/>
            <a:ext cx="0" cy="137160"/>
          </a:xfrm>
          <a:prstGeom prst="line">
            <a:avLst/>
          </a:prstGeom>
          <a:noFill/>
          <a:ln w="6350">
            <a:solidFill>
              <a:srgbClr val="1F254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1645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6537960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MapLibre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537960" y="2286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2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矢量瓦片开源分叉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7982712" y="2542032"/>
            <a:ext cx="219456" cy="219456"/>
          </a:xfrm>
          <a:prstGeom prst="ellipse">
            <a:avLst/>
          </a:prstGeom>
          <a:solidFill>
            <a:srgbClr val="05060F"/>
          </a:solidFill>
          <a:ln w="25400">
            <a:solidFill>
              <a:srgbClr val="63F6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046720" y="2606040"/>
            <a:ext cx="91440" cy="91440"/>
          </a:xfrm>
          <a:prstGeom prst="ellipse">
            <a:avLst/>
          </a:prstGeom>
          <a:solidFill>
            <a:srgbClr val="63F6FF"/>
          </a:solidFill>
          <a:ln/>
        </p:spPr>
      </p:sp>
      <p:sp>
        <p:nvSpPr>
          <p:cNvPr id="64" name="Shape 62"/>
          <p:cNvSpPr/>
          <p:nvPr/>
        </p:nvSpPr>
        <p:spPr>
          <a:xfrm>
            <a:off x="8092440" y="2761488"/>
            <a:ext cx="0" cy="137160"/>
          </a:xfrm>
          <a:prstGeom prst="line">
            <a:avLst/>
          </a:prstGeom>
          <a:noFill/>
          <a:ln w="6350">
            <a:solidFill>
              <a:srgbClr val="1F254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543800" y="3383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7543800" y="2926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+ GIS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543800" y="3200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2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与地理融合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63F6FF">
              <a:alpha val="12000"/>
            </a:srgbClr>
          </a:solidFill>
          <a:ln w="6350">
            <a:solidFill>
              <a:srgbClr val="63F6F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 年里，开源 GIS 从科研工具成长为产业基础设施，定义了现代地理信息产业的格局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028700"/>
            <a:ext cx="9144000" cy="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057400"/>
            <a:ext cx="9144000" cy="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086100"/>
            <a:ext cx="9144000" cy="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8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63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OPENGIS  UNIVERSE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466344"/>
            <a:ext cx="228600" cy="27432"/>
          </a:xfrm>
          <a:prstGeom prst="rect">
            <a:avLst/>
          </a:prstGeom>
          <a:solidFill>
            <a:srgbClr val="63F6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63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TECH  STACK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 · 零构建步骤</a:t>
            </a:r>
            <a:endParaRPr lang="en-US" sz="3200" dirty="0"/>
          </a:p>
        </p:txBody>
      </p:sp>
      <p:sp>
        <p:nvSpPr>
          <p:cNvPr id="19" name="Shape 17"/>
          <p:cNvSpPr/>
          <p:nvPr/>
        </p:nvSpPr>
        <p:spPr>
          <a:xfrm>
            <a:off x="457200" y="1691640"/>
            <a:ext cx="5029200" cy="411480"/>
          </a:xfrm>
          <a:prstGeom prst="rect">
            <a:avLst/>
          </a:prstGeom>
          <a:solidFill>
            <a:srgbClr val="0F1224"/>
          </a:solidFill>
          <a:ln w="6350">
            <a:solidFill>
              <a:srgbClr val="1F25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1691640"/>
            <a:ext cx="73152" cy="411480"/>
          </a:xfrm>
          <a:prstGeom prst="rect">
            <a:avLst/>
          </a:prstGeom>
          <a:solidFill>
            <a:srgbClr val="63F6F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16916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3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43000" y="1691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应用层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560320" y="16916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QGIS · Kepler · Cesium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148840"/>
            <a:ext cx="5029200" cy="411480"/>
          </a:xfrm>
          <a:prstGeom prst="rect">
            <a:avLst/>
          </a:prstGeom>
          <a:solidFill>
            <a:srgbClr val="0F1224"/>
          </a:solidFill>
          <a:ln w="6350">
            <a:solidFill>
              <a:srgbClr val="1F254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148840"/>
            <a:ext cx="73152" cy="411480"/>
          </a:xfrm>
          <a:prstGeom prst="rect">
            <a:avLst/>
          </a:prstGeom>
          <a:solidFill>
            <a:srgbClr val="9A7DF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21488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7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43000" y="21488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可视化层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560320" y="21488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D3 · ECharts · deck.gl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2606040"/>
            <a:ext cx="5029200" cy="411480"/>
          </a:xfrm>
          <a:prstGeom prst="rect">
            <a:avLst/>
          </a:prstGeom>
          <a:solidFill>
            <a:srgbClr val="0F1224"/>
          </a:solidFill>
          <a:ln w="6350">
            <a:solidFill>
              <a:srgbClr val="1F254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2606040"/>
            <a:ext cx="73152" cy="411480"/>
          </a:xfrm>
          <a:prstGeom prst="rect">
            <a:avLst/>
          </a:prstGeom>
          <a:solidFill>
            <a:srgbClr val="FF7EB6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2606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E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43000" y="26060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地图层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560320" y="26060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Leaflet · OpenLayers · MapLibre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063240"/>
            <a:ext cx="5029200" cy="411480"/>
          </a:xfrm>
          <a:prstGeom prst="rect">
            <a:avLst/>
          </a:prstGeom>
          <a:solidFill>
            <a:srgbClr val="0F1224"/>
          </a:solidFill>
          <a:ln w="6350">
            <a:solidFill>
              <a:srgbClr val="1F254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3063240"/>
            <a:ext cx="73152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30632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43000" y="3063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服务层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560320" y="30632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GeoServer · MapServer · tileserver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3520440"/>
            <a:ext cx="5029200" cy="411480"/>
          </a:xfrm>
          <a:prstGeom prst="rect">
            <a:avLst/>
          </a:prstGeom>
          <a:solidFill>
            <a:srgbClr val="0F1224"/>
          </a:solidFill>
          <a:ln w="6350">
            <a:solidFill>
              <a:srgbClr val="1F254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3520440"/>
            <a:ext cx="73152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35204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143000" y="3520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存储层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2560320" y="35204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PostGIS · SpatiaLite · Sedona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3977640"/>
            <a:ext cx="5029200" cy="411480"/>
          </a:xfrm>
          <a:prstGeom prst="rect">
            <a:avLst/>
          </a:prstGeom>
          <a:solidFill>
            <a:srgbClr val="0F1224"/>
          </a:solidFill>
          <a:ln w="6350">
            <a:solidFill>
              <a:srgbClr val="1F254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3977640"/>
            <a:ext cx="73152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" y="39776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L0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143000" y="3977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内核层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2560320" y="39776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GDAL · PROJ · GEOS · JTS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760720" y="1691640"/>
            <a:ext cx="2926080" cy="3108960"/>
          </a:xfrm>
          <a:prstGeom prst="rect">
            <a:avLst/>
          </a:prstGeom>
          <a:solidFill>
            <a:srgbClr val="0F1224"/>
          </a:solidFill>
          <a:ln w="12700">
            <a:solidFill>
              <a:srgbClr val="63F6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760720" y="1691640"/>
            <a:ext cx="2926080" cy="365760"/>
          </a:xfrm>
          <a:prstGeom prst="rect">
            <a:avLst/>
          </a:prstGeom>
          <a:solidFill>
            <a:srgbClr val="63F6FF">
              <a:alpha val="3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5943600" y="1691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3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IMPLEMENTATION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943600" y="2194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766560" y="2194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HTML5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943600" y="2578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样式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766560" y="25786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Tailwind (CDN)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943600" y="2962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 渲染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766560" y="29626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Three.js 0.160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943600" y="33467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字体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766560" y="33467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 Grotesk + YaHei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943600" y="3730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图标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766560" y="37307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Emoji + Unicode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5943600" y="4114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766560" y="4114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  零步骤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整个项目打包后 78KB，无需任何依赖安装，双击 HTML 即可运行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028700"/>
            <a:ext cx="9144000" cy="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057400"/>
            <a:ext cx="9144000" cy="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086100"/>
            <a:ext cx="9144000" cy="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8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63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OPENGIS  UNIVERSE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466344"/>
            <a:ext cx="228600" cy="27432"/>
          </a:xfrm>
          <a:prstGeom prst="rect">
            <a:avLst/>
          </a:prstGeom>
          <a:solidFill>
            <a:srgbClr val="63F6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63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INTERFACE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界面预览</a:t>
            </a:r>
            <a:endParaRPr lang="en-US" sz="3200" dirty="0"/>
          </a:p>
        </p:txBody>
      </p:sp>
      <p:pic>
        <p:nvPicPr>
          <p:cNvPr id="19" name="Image 0" descr="../assets/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91640"/>
            <a:ext cx="5669280" cy="354330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457200" y="1691640"/>
            <a:ext cx="5669280" cy="3543300"/>
          </a:xfrm>
          <a:prstGeom prst="rect">
            <a:avLst/>
          </a:prstGeom>
          <a:ln w="12700">
            <a:solidFill>
              <a:srgbClr val="63F6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5285232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首页 · Hero 区 · 3D 粒子地球 + 渐变标题</a:t>
            </a:r>
            <a:endParaRPr lang="en-US" sz="900" dirty="0"/>
          </a:p>
        </p:txBody>
      </p:sp>
      <p:pic>
        <p:nvPicPr>
          <p:cNvPr id="22" name="Image 1" descr="../assets/time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91640"/>
            <a:ext cx="2468880" cy="155448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6400800" y="1691640"/>
            <a:ext cx="2468880" cy="1554480"/>
          </a:xfrm>
          <a:prstGeom prst="rect">
            <a:avLst/>
          </a:prstGeom>
          <a:ln w="6350">
            <a:solidFill>
              <a:srgbClr val="1F2542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400800" y="3291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时间线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6400800" y="3657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6766560" y="3657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实时搜索 + 分类筛选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400800" y="39502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6766560" y="39502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50+ 项目卡片瀑布流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6400800" y="4242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766560" y="42428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发展史左右交错时间轴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6400800" y="45354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6766560" y="45354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 5 层架构图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40080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6766560" y="4828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标签云 + 语言分布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028700"/>
            <a:ext cx="9144000" cy="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057400"/>
            <a:ext cx="9144000" cy="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086100"/>
            <a:ext cx="9144000" cy="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175">
            <a:solidFill>
              <a:srgbClr val="1F2542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3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GET  STARTED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一起共建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457200" y="1737360"/>
            <a:ext cx="5029200" cy="777240"/>
          </a:xfrm>
          <a:prstGeom prst="rect">
            <a:avLst/>
          </a:prstGeom>
          <a:solidFill>
            <a:srgbClr val="0F1224"/>
          </a:solidFill>
          <a:ln w="6350">
            <a:solidFill>
              <a:srgbClr val="1F25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1920240"/>
            <a:ext cx="411480" cy="411480"/>
          </a:xfrm>
          <a:prstGeom prst="ellipse">
            <a:avLst/>
          </a:prstGeom>
          <a:solidFill>
            <a:srgbClr val="63F6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0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1828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3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  /  克隆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88720" y="2103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clone https://github.com/liwei061-a11y/opengis-universe.git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651760"/>
            <a:ext cx="5029200" cy="777240"/>
          </a:xfrm>
          <a:prstGeom prst="rect">
            <a:avLst/>
          </a:prstGeom>
          <a:solidFill>
            <a:srgbClr val="0F1224"/>
          </a:solidFill>
          <a:ln w="6350">
            <a:solidFill>
              <a:srgbClr val="1F25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2834640"/>
            <a:ext cx="411480" cy="411480"/>
          </a:xfrm>
          <a:prstGeom prst="ellipse">
            <a:avLst/>
          </a:prstGeom>
          <a:solidFill>
            <a:srgbClr val="63F6FF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0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88720" y="2743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3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  /  启动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88720" y="3017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opengis-universe &amp;&amp; python3 -m http.server 8000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566160"/>
            <a:ext cx="5029200" cy="777240"/>
          </a:xfrm>
          <a:prstGeom prst="rect">
            <a:avLst/>
          </a:prstGeom>
          <a:solidFill>
            <a:srgbClr val="0F1224"/>
          </a:solidFill>
          <a:ln w="6350">
            <a:solidFill>
              <a:srgbClr val="1F254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3749040"/>
            <a:ext cx="411480" cy="411480"/>
          </a:xfrm>
          <a:prstGeom prst="ellipse">
            <a:avLst/>
          </a:prstGeom>
          <a:solidFill>
            <a:srgbClr val="63F6FF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0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88720" y="36576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3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  /  访问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88720" y="3931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open http://localhost:8000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760720" y="1737360"/>
            <a:ext cx="2926080" cy="2788920"/>
          </a:xfrm>
          <a:prstGeom prst="rect">
            <a:avLst/>
          </a:prstGeom>
          <a:solidFill>
            <a:srgbClr val="63F6FF">
              <a:alpha val="10000"/>
            </a:srgbClr>
          </a:solidFill>
          <a:ln w="12700">
            <a:solidFill>
              <a:srgbClr val="63F6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0" y="1920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3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PROJECT  INFO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43600" y="23317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License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766560" y="2331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43600" y="2715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766560" y="2715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2026.08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943600" y="30998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766560" y="30998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 + Three.js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943600" y="34838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766560" y="34838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78KB (no deps)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943600" y="38679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766560" y="38679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github.com/liwei061-a11y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4800600"/>
            <a:ext cx="8229600" cy="0"/>
          </a:xfrm>
          <a:prstGeom prst="rect">
            <a:avLst/>
          </a:prstGeom>
          <a:solidFill>
            <a:srgbClr val="63F6FF"/>
          </a:solidFill>
          <a:ln/>
        </p:spPr>
      </p:sp>
      <p:sp>
        <p:nvSpPr>
          <p:cNvPr id="45" name="Text 43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OpenGIS Universe - Project Overview</dc:title>
  <dc:subject>Open Source GIS Software Showcase</dc:subject>
  <dc:creator>OpenGIS Universe</dc:creator>
  <cp:lastModifiedBy>OpenGIS Universe</cp:lastModifiedBy>
  <cp:revision>1</cp:revision>
  <dcterms:created xsi:type="dcterms:W3CDTF">2026-08-05T01:46:17Z</dcterms:created>
  <dcterms:modified xsi:type="dcterms:W3CDTF">2026-08-05T01:46:17Z</dcterms:modified>
</cp:coreProperties>
</file>